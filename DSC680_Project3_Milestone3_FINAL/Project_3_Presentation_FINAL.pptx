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day everyone. My name is Abdelaziz Frederic Ouattara. My Project 3 is titled Predicting Customer Churn Using Machine Learning. The project uses the IBM Telco Customer Churn dataset to identify factors associated with churn and compare classification models that can support customer-retention decisions.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Customer churn matters because losing existing customers can reduce recurring revenue and increase the cost of replacing them. My goal was not simply to maximize accuracy. I wanted a model that could identify churn risk, perform reliably, remain interpretable, and support responsible business action.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addresses four questions: which customer characteristics are most strongly associated with churn; whether machine learning can predict churn with useful performance; which tested classifier performs best; and what business recommendations can be developed from the findings.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analysis used 7,043 customer records and 21 original columns from the IBM Telco Customer Churn dataset. The data include demographics, subscribed services, contract information, payment method, tenure, charges, and churn. There were no duplicate rows. After converting TotalCharges to numeric, 11 values were missing and were handled by the preprocessing pipeline. Overall churn was 26.54 percent.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patterns stood out. Month-to-month customers had a 42.7 percent churn rate, compared with 11.3 percent for one-year contracts and only 2.8 percent for two-year contracts. Fiber-optic customers had a 41.9 percent churn rate. Electronic-check customers had a 45.3 percent churn rate. The tenure distribution also showed that churn was concentrated more heavily among customers with shorter tenure. These patterns are associations and do not prove causation.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compared Logistic Regression, Decision Tree, and Random Forest. Numeric variables were imputed and standardized, categorical variables were imputed and one-hot encoded, and all preprocessing stayed inside the model pipelines to reduce leakage. I used a stratified 80-20 train-test split plus five-fold stratified cross-validation. I evaluated accuracy, precision, recall, F1, ROC-AUC, and confusion matrices.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Logistic Regression achieved 73.81 percent accuracy, 50.43 percent precision, 78.34 percent recall, an F1 score of 0.6136, and ROC-AUC of 0.8413. Random Forest had higher accuracy at 77.64 percent and a slightly higher F1 of 0.6209, but its ROC-AUC was 0.8375. Decision Tree had the highest recall at 79.41 percent, but its ROC-AUC was 0.8343. Logistic Regression also had the highest cross-validation ROC-AUC at 0.8459, so I selected it as the final model.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selected Logistic Regression model correctly identified 293 churners and missed 81 churners. It also generated 288 false-positive churn predictions. Tenure had the largest-magnitude Logistic Regression coefficient, and a two-year contract was also strongly associated with lower churn risk. Fiber-optic service and month-to-month contracts were associated with higher predicted churn. Random Forest also ranked tenure as the most important feature, followed by TotalCharges and month-to-month contract status.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suggest prioritizing supportive outreach for newer and month-to-month customers, testing service-quality outreach for fiber-optic customers, offering billing support where appropriate, and evaluating incentives for longer-term contracts. These actions should be tested rather than assumed effective. Ethical use also requires privacy protection, attention to proxy discrimination and unequal errors, transparent documentation, human oversight, and monitoring for model drift.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this project demonstrates a complete data science workflow from cleaning and exploration through modeling, validation, interpretation, and ethics. Logistic Regression was selected because it produced the strongest ROC-AUC in both cross-validation and holdout testing while maintaining high recall and strong interpretability. The model should be treated as a decision-support risk signal rather than an automated decision-maker. Thank you, and I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65760"/>
            <a:ext cx="10972800" cy="731520"/>
          </a:xfrm>
          <a:prstGeom prst="rect">
            <a:avLst/>
          </a:prstGeom>
          <a:noFill/>
        </p:spPr>
        <p:txBody>
          <a:bodyPr wrap="none">
            <a:spAutoFit/>
          </a:bodyPr>
          <a:lstStyle/>
          <a:p>
            <a:pPr>
              <a:defRPr sz="2800" b="1"/>
            </a:pPr>
            <a:r>
              <a:t>Predicting Customer Churn Using Machine Learning</a:t>
            </a:r>
          </a:p>
        </p:txBody>
      </p:sp>
      <p:sp>
        <p:nvSpPr>
          <p:cNvPr id="3" name="TextBox 2"/>
          <p:cNvSpPr txBox="1"/>
          <p:nvPr/>
        </p:nvSpPr>
        <p:spPr>
          <a:xfrm>
            <a:off x="640080" y="1051560"/>
            <a:ext cx="10515600" cy="411480"/>
          </a:xfrm>
          <a:prstGeom prst="rect">
            <a:avLst/>
          </a:prstGeom>
          <a:noFill/>
        </p:spPr>
        <p:txBody>
          <a:bodyPr wrap="none">
            <a:spAutoFit/>
          </a:bodyPr>
          <a:lstStyle/>
          <a:p>
            <a:pPr>
              <a:defRPr sz="1500"/>
            </a:pPr>
            <a:r>
              <a:t>Final results from executed notebook</a:t>
            </a:r>
          </a:p>
        </p:txBody>
      </p:sp>
      <p:sp>
        <p:nvSpPr>
          <p:cNvPr id="4" name="TextBox 3"/>
          <p:cNvSpPr txBox="1"/>
          <p:nvPr/>
        </p:nvSpPr>
        <p:spPr>
          <a:xfrm>
            <a:off x="777240" y="1828800"/>
            <a:ext cx="10698480" cy="4526280"/>
          </a:xfrm>
          <a:prstGeom prst="rect">
            <a:avLst/>
          </a:prstGeom>
          <a:noFill/>
        </p:spPr>
        <p:txBody>
          <a:bodyPr wrap="square">
            <a:spAutoFit/>
          </a:bodyPr>
          <a:lstStyle/>
          <a:p>
            <a:pPr>
              <a:spcAft>
                <a:spcPts val="1000"/>
              </a:spcAft>
              <a:defRPr sz="1900"/>
            </a:pPr>
            <a:r>
              <a:t>DSC 680 - Project 3, Milestone 3</a:t>
            </a:r>
          </a:p>
          <a:p>
            <a:pPr>
              <a:spcAft>
                <a:spcPts val="1000"/>
              </a:spcAft>
              <a:defRPr sz="1900"/>
            </a:pPr>
            <a:r>
              <a:t>Abdelaziz Frederic Ouattara</a:t>
            </a:r>
          </a:p>
          <a:p>
            <a:pPr>
              <a:spcAft>
                <a:spcPts val="1000"/>
              </a:spcAft>
              <a:defRPr sz="1900"/>
            </a:pPr>
            <a:r>
              <a:t>IBM Telco Customer Churn Dataset</a:t>
            </a:r>
          </a:p>
        </p:txBody>
      </p:sp>
      <p:sp>
        <p:nvSpPr>
          <p:cNvPr id="5" name="TextBox 4"/>
          <p:cNvSpPr txBox="1"/>
          <p:nvPr/>
        </p:nvSpPr>
        <p:spPr>
          <a:xfrm>
            <a:off x="640080" y="6400800"/>
            <a:ext cx="10972800" cy="228600"/>
          </a:xfrm>
          <a:prstGeom prst="rect">
            <a:avLst/>
          </a:prstGeom>
          <a:noFill/>
        </p:spPr>
        <p:txBody>
          <a:bodyPr wrap="none">
            <a:spAutoFit/>
          </a:bodyPr>
          <a:lstStyle/>
          <a:p>
            <a:pPr algn="r">
              <a:defRPr sz="900"/>
            </a:pPr>
            <a:r>
              <a:t>DSC 680 | Project 3 | 1/10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65760"/>
            <a:ext cx="10972800" cy="731520"/>
          </a:xfrm>
          <a:prstGeom prst="rect">
            <a:avLst/>
          </a:prstGeom>
          <a:noFill/>
        </p:spPr>
        <p:txBody>
          <a:bodyPr wrap="none">
            <a:spAutoFit/>
          </a:bodyPr>
          <a:lstStyle/>
          <a:p>
            <a:pPr>
              <a:defRPr sz="2800" b="1"/>
            </a:pPr>
            <a:r>
              <a:t>Business Problem</a:t>
            </a:r>
          </a:p>
        </p:txBody>
      </p:sp>
      <p:sp>
        <p:nvSpPr>
          <p:cNvPr id="3" name="TextBox 2"/>
          <p:cNvSpPr txBox="1"/>
          <p:nvPr/>
        </p:nvSpPr>
        <p:spPr>
          <a:xfrm>
            <a:off x="777240" y="1417320"/>
            <a:ext cx="10698480" cy="4526280"/>
          </a:xfrm>
          <a:prstGeom prst="rect">
            <a:avLst/>
          </a:prstGeom>
          <a:noFill/>
        </p:spPr>
        <p:txBody>
          <a:bodyPr wrap="square">
            <a:spAutoFit/>
          </a:bodyPr>
          <a:lstStyle/>
          <a:p>
            <a:pPr>
              <a:spcAft>
                <a:spcPts val="1000"/>
              </a:spcAft>
              <a:defRPr sz="1900"/>
            </a:pPr>
            <a:r>
              <a:t>Customer churn reduces recurring revenue and creates replacement pressure.</a:t>
            </a:r>
          </a:p>
          <a:p>
            <a:pPr>
              <a:spcAft>
                <a:spcPts val="1000"/>
              </a:spcAft>
              <a:defRPr sz="1900"/>
            </a:pPr>
            <a:r>
              <a:t>Goal: identify churn risk while balancing performance, interpretability, and responsible use.</a:t>
            </a:r>
          </a:p>
          <a:p>
            <a:pPr>
              <a:spcAft>
                <a:spcPts val="1000"/>
              </a:spcAft>
              <a:defRPr sz="1900"/>
            </a:pPr>
            <a:r>
              <a:t>Overall churn in the dataset: 26.54%.</a:t>
            </a:r>
          </a:p>
        </p:txBody>
      </p:sp>
      <p:sp>
        <p:nvSpPr>
          <p:cNvPr id="4" name="TextBox 3"/>
          <p:cNvSpPr txBox="1"/>
          <p:nvPr/>
        </p:nvSpPr>
        <p:spPr>
          <a:xfrm>
            <a:off x="640080" y="6400800"/>
            <a:ext cx="10972800" cy="228600"/>
          </a:xfrm>
          <a:prstGeom prst="rect">
            <a:avLst/>
          </a:prstGeom>
          <a:noFill/>
        </p:spPr>
        <p:txBody>
          <a:bodyPr wrap="none">
            <a:spAutoFit/>
          </a:bodyPr>
          <a:lstStyle/>
          <a:p>
            <a:pPr algn="r">
              <a:defRPr sz="900"/>
            </a:pPr>
            <a:r>
              <a:t>DSC 680 | Project 3 | 2/10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65760"/>
            <a:ext cx="10972800" cy="731520"/>
          </a:xfrm>
          <a:prstGeom prst="rect">
            <a:avLst/>
          </a:prstGeom>
          <a:noFill/>
        </p:spPr>
        <p:txBody>
          <a:bodyPr wrap="none">
            <a:spAutoFit/>
          </a:bodyPr>
          <a:lstStyle/>
          <a:p>
            <a:pPr>
              <a:defRPr sz="2800" b="1"/>
            </a:pPr>
            <a:r>
              <a:t>Research Questions</a:t>
            </a:r>
          </a:p>
        </p:txBody>
      </p:sp>
      <p:sp>
        <p:nvSpPr>
          <p:cNvPr id="3" name="TextBox 2"/>
          <p:cNvSpPr txBox="1"/>
          <p:nvPr/>
        </p:nvSpPr>
        <p:spPr>
          <a:xfrm>
            <a:off x="777240" y="1417320"/>
            <a:ext cx="10698480" cy="4526280"/>
          </a:xfrm>
          <a:prstGeom prst="rect">
            <a:avLst/>
          </a:prstGeom>
          <a:noFill/>
        </p:spPr>
        <p:txBody>
          <a:bodyPr wrap="square">
            <a:spAutoFit/>
          </a:bodyPr>
          <a:lstStyle/>
          <a:p>
            <a:pPr>
              <a:spcAft>
                <a:spcPts val="1000"/>
              </a:spcAft>
              <a:defRPr sz="1900"/>
            </a:pPr>
            <a:r>
              <a:t>Which customer characteristics are most strongly associated with churn?</a:t>
            </a:r>
          </a:p>
          <a:p>
            <a:pPr>
              <a:spcAft>
                <a:spcPts val="1000"/>
              </a:spcAft>
              <a:defRPr sz="1900"/>
            </a:pPr>
            <a:r>
              <a:t>Can machine learning accurately predict churn?</a:t>
            </a:r>
          </a:p>
          <a:p>
            <a:pPr>
              <a:spcAft>
                <a:spcPts val="1000"/>
              </a:spcAft>
              <a:defRPr sz="1900"/>
            </a:pPr>
            <a:r>
              <a:t>Which classification algorithm performs best?</a:t>
            </a:r>
          </a:p>
          <a:p>
            <a:pPr>
              <a:spcAft>
                <a:spcPts val="1000"/>
              </a:spcAft>
              <a:defRPr sz="1900"/>
            </a:pPr>
            <a:r>
              <a:t>What business recommendations can reduce attrition?</a:t>
            </a:r>
          </a:p>
        </p:txBody>
      </p:sp>
      <p:sp>
        <p:nvSpPr>
          <p:cNvPr id="4" name="TextBox 3"/>
          <p:cNvSpPr txBox="1"/>
          <p:nvPr/>
        </p:nvSpPr>
        <p:spPr>
          <a:xfrm>
            <a:off x="640080" y="6400800"/>
            <a:ext cx="10972800" cy="228600"/>
          </a:xfrm>
          <a:prstGeom prst="rect">
            <a:avLst/>
          </a:prstGeom>
          <a:noFill/>
        </p:spPr>
        <p:txBody>
          <a:bodyPr wrap="none">
            <a:spAutoFit/>
          </a:bodyPr>
          <a:lstStyle/>
          <a:p>
            <a:pPr algn="r">
              <a:defRPr sz="900"/>
            </a:pPr>
            <a:r>
              <a:t>DSC 680 | Project 3 | 3/10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65760"/>
            <a:ext cx="10972800" cy="731520"/>
          </a:xfrm>
          <a:prstGeom prst="rect">
            <a:avLst/>
          </a:prstGeom>
          <a:noFill/>
        </p:spPr>
        <p:txBody>
          <a:bodyPr wrap="none">
            <a:spAutoFit/>
          </a:bodyPr>
          <a:lstStyle/>
          <a:p>
            <a:pPr>
              <a:defRPr sz="2800" b="1"/>
            </a:pPr>
            <a:r>
              <a:t>Dataset &amp; Preparation</a:t>
            </a:r>
          </a:p>
        </p:txBody>
      </p:sp>
      <p:sp>
        <p:nvSpPr>
          <p:cNvPr id="3" name="TextBox 2"/>
          <p:cNvSpPr txBox="1"/>
          <p:nvPr/>
        </p:nvSpPr>
        <p:spPr>
          <a:xfrm>
            <a:off x="777240" y="1417320"/>
            <a:ext cx="10698480" cy="4526280"/>
          </a:xfrm>
          <a:prstGeom prst="rect">
            <a:avLst/>
          </a:prstGeom>
          <a:noFill/>
        </p:spPr>
        <p:txBody>
          <a:bodyPr wrap="square">
            <a:spAutoFit/>
          </a:bodyPr>
          <a:lstStyle/>
          <a:p>
            <a:pPr>
              <a:spcAft>
                <a:spcPts val="1000"/>
              </a:spcAft>
              <a:defRPr sz="1900"/>
            </a:pPr>
            <a:r>
              <a:t>7,043 customer records; 21 original columns</a:t>
            </a:r>
          </a:p>
          <a:p>
            <a:pPr>
              <a:spcAft>
                <a:spcPts val="1000"/>
              </a:spcAft>
              <a:defRPr sz="1900"/>
            </a:pPr>
            <a:r>
              <a:t>0 duplicate rows; 11 TotalCharges values became missing after numeric conversion</a:t>
            </a:r>
          </a:p>
          <a:p>
            <a:pPr>
              <a:spcAft>
                <a:spcPts val="1000"/>
              </a:spcAft>
              <a:defRPr sz="1900"/>
            </a:pPr>
            <a:r>
              <a:t>CustomerID excluded from modeling</a:t>
            </a:r>
          </a:p>
          <a:p>
            <a:pPr>
              <a:spcAft>
                <a:spcPts val="1000"/>
              </a:spcAft>
              <a:defRPr sz="1900"/>
            </a:pPr>
            <a:r>
              <a:t>Numeric: median imputation + scaling</a:t>
            </a:r>
          </a:p>
          <a:p>
            <a:pPr>
              <a:spcAft>
                <a:spcPts val="1000"/>
              </a:spcAft>
              <a:defRPr sz="1900"/>
            </a:pPr>
            <a:r>
              <a:t>Categorical: most-frequent imputation + one-hot encoding</a:t>
            </a:r>
          </a:p>
        </p:txBody>
      </p:sp>
      <p:sp>
        <p:nvSpPr>
          <p:cNvPr id="4" name="TextBox 3"/>
          <p:cNvSpPr txBox="1"/>
          <p:nvPr/>
        </p:nvSpPr>
        <p:spPr>
          <a:xfrm>
            <a:off x="640080" y="6400800"/>
            <a:ext cx="10972800" cy="228600"/>
          </a:xfrm>
          <a:prstGeom prst="rect">
            <a:avLst/>
          </a:prstGeom>
          <a:noFill/>
        </p:spPr>
        <p:txBody>
          <a:bodyPr wrap="none">
            <a:spAutoFit/>
          </a:bodyPr>
          <a:lstStyle/>
          <a:p>
            <a:pPr algn="r">
              <a:defRPr sz="900"/>
            </a:pPr>
            <a:r>
              <a:t>DSC 680 | Project 3 | 4/10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65760"/>
            <a:ext cx="10972800" cy="731520"/>
          </a:xfrm>
          <a:prstGeom prst="rect">
            <a:avLst/>
          </a:prstGeom>
          <a:noFill/>
        </p:spPr>
        <p:txBody>
          <a:bodyPr wrap="none">
            <a:spAutoFit/>
          </a:bodyPr>
          <a:lstStyle/>
          <a:p>
            <a:pPr>
              <a:defRPr sz="2800" b="1"/>
            </a:pPr>
            <a:r>
              <a:t>Exploratory Findings</a:t>
            </a:r>
          </a:p>
        </p:txBody>
      </p:sp>
      <p:sp>
        <p:nvSpPr>
          <p:cNvPr id="3" name="TextBox 2"/>
          <p:cNvSpPr txBox="1"/>
          <p:nvPr/>
        </p:nvSpPr>
        <p:spPr>
          <a:xfrm>
            <a:off x="777240" y="1417320"/>
            <a:ext cx="10698480" cy="4526280"/>
          </a:xfrm>
          <a:prstGeom prst="rect">
            <a:avLst/>
          </a:prstGeom>
          <a:noFill/>
        </p:spPr>
        <p:txBody>
          <a:bodyPr wrap="square">
            <a:spAutoFit/>
          </a:bodyPr>
          <a:lstStyle/>
          <a:p>
            <a:pPr>
              <a:spcAft>
                <a:spcPts val="1000"/>
              </a:spcAft>
              <a:defRPr sz="1900"/>
            </a:pPr>
            <a:r>
              <a:t>Month-to-month churn: 42.7% | One year: 11.3% | Two year: 2.8%</a:t>
            </a:r>
          </a:p>
          <a:p>
            <a:pPr>
              <a:spcAft>
                <a:spcPts val="1000"/>
              </a:spcAft>
              <a:defRPr sz="1900"/>
            </a:pPr>
            <a:r>
              <a:t>Fiber optic churn: 41.9% | DSL: 19.0% | No internet: 7.4%</a:t>
            </a:r>
          </a:p>
          <a:p>
            <a:pPr>
              <a:spcAft>
                <a:spcPts val="1000"/>
              </a:spcAft>
              <a:defRPr sz="1900"/>
            </a:pPr>
            <a:r>
              <a:t>Electronic check churn: 45.3% | Automatic credit card: 15.2%</a:t>
            </a:r>
          </a:p>
          <a:p>
            <a:pPr>
              <a:spcAft>
                <a:spcPts val="1000"/>
              </a:spcAft>
              <a:defRPr sz="1900"/>
            </a:pPr>
            <a:r>
              <a:t>Shorter-tenure customers showed substantially more churn.</a:t>
            </a:r>
          </a:p>
        </p:txBody>
      </p:sp>
      <p:sp>
        <p:nvSpPr>
          <p:cNvPr id="4" name="TextBox 3"/>
          <p:cNvSpPr txBox="1"/>
          <p:nvPr/>
        </p:nvSpPr>
        <p:spPr>
          <a:xfrm>
            <a:off x="640080" y="6400800"/>
            <a:ext cx="10972800" cy="228600"/>
          </a:xfrm>
          <a:prstGeom prst="rect">
            <a:avLst/>
          </a:prstGeom>
          <a:noFill/>
        </p:spPr>
        <p:txBody>
          <a:bodyPr wrap="none">
            <a:spAutoFit/>
          </a:bodyPr>
          <a:lstStyle/>
          <a:p>
            <a:pPr algn="r">
              <a:defRPr sz="900"/>
            </a:pPr>
            <a:r>
              <a:t>DSC 680 | Project 3 | 5/10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65760"/>
            <a:ext cx="10972800" cy="731520"/>
          </a:xfrm>
          <a:prstGeom prst="rect">
            <a:avLst/>
          </a:prstGeom>
          <a:noFill/>
        </p:spPr>
        <p:txBody>
          <a:bodyPr wrap="none">
            <a:spAutoFit/>
          </a:bodyPr>
          <a:lstStyle/>
          <a:p>
            <a:pPr>
              <a:defRPr sz="2800" b="1"/>
            </a:pPr>
            <a:r>
              <a:t>Modeling &amp; Validation</a:t>
            </a:r>
          </a:p>
        </p:txBody>
      </p:sp>
      <p:sp>
        <p:nvSpPr>
          <p:cNvPr id="3" name="TextBox 2"/>
          <p:cNvSpPr txBox="1"/>
          <p:nvPr/>
        </p:nvSpPr>
        <p:spPr>
          <a:xfrm>
            <a:off x="777240" y="1417320"/>
            <a:ext cx="10698480" cy="4526280"/>
          </a:xfrm>
          <a:prstGeom prst="rect">
            <a:avLst/>
          </a:prstGeom>
          <a:noFill/>
        </p:spPr>
        <p:txBody>
          <a:bodyPr wrap="square">
            <a:spAutoFit/>
          </a:bodyPr>
          <a:lstStyle/>
          <a:p>
            <a:pPr>
              <a:spcAft>
                <a:spcPts val="1000"/>
              </a:spcAft>
              <a:defRPr sz="1900"/>
            </a:pPr>
            <a:r>
              <a:t>Logistic Regression, Decision Tree, Random Forest</a:t>
            </a:r>
          </a:p>
          <a:p>
            <a:pPr>
              <a:spcAft>
                <a:spcPts val="1000"/>
              </a:spcAft>
              <a:defRPr sz="1900"/>
            </a:pPr>
            <a:r>
              <a:t>Stratified 80/20 holdout split</a:t>
            </a:r>
          </a:p>
          <a:p>
            <a:pPr>
              <a:spcAft>
                <a:spcPts val="1000"/>
              </a:spcAft>
              <a:defRPr sz="1900"/>
            </a:pPr>
            <a:r>
              <a:t>5-fold stratified cross-validation</a:t>
            </a:r>
          </a:p>
          <a:p>
            <a:pPr>
              <a:spcAft>
                <a:spcPts val="1000"/>
              </a:spcAft>
              <a:defRPr sz="1900"/>
            </a:pPr>
            <a:r>
              <a:t>Metrics: Accuracy, Precision, Recall, F1, ROC-AUC, confusion matrix</a:t>
            </a:r>
          </a:p>
          <a:p>
            <a:pPr>
              <a:spcAft>
                <a:spcPts val="1000"/>
              </a:spcAft>
              <a:defRPr sz="1900"/>
            </a:pPr>
            <a:r>
              <a:t>Preprocessing kept inside pipelines to reduce leakage</a:t>
            </a:r>
          </a:p>
        </p:txBody>
      </p:sp>
      <p:sp>
        <p:nvSpPr>
          <p:cNvPr id="4" name="TextBox 3"/>
          <p:cNvSpPr txBox="1"/>
          <p:nvPr/>
        </p:nvSpPr>
        <p:spPr>
          <a:xfrm>
            <a:off x="640080" y="6400800"/>
            <a:ext cx="10972800" cy="228600"/>
          </a:xfrm>
          <a:prstGeom prst="rect">
            <a:avLst/>
          </a:prstGeom>
          <a:noFill/>
        </p:spPr>
        <p:txBody>
          <a:bodyPr wrap="none">
            <a:spAutoFit/>
          </a:bodyPr>
          <a:lstStyle/>
          <a:p>
            <a:pPr algn="r">
              <a:defRPr sz="900"/>
            </a:pPr>
            <a:r>
              <a:t>DSC 680 | Project 3 | 6/10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65760"/>
            <a:ext cx="10972800" cy="731520"/>
          </a:xfrm>
          <a:prstGeom prst="rect">
            <a:avLst/>
          </a:prstGeom>
          <a:noFill/>
        </p:spPr>
        <p:txBody>
          <a:bodyPr wrap="none">
            <a:spAutoFit/>
          </a:bodyPr>
          <a:lstStyle/>
          <a:p>
            <a:pPr>
              <a:defRPr sz="2800" b="1"/>
            </a:pPr>
            <a:r>
              <a:t>Holdout Model Results</a:t>
            </a:r>
          </a:p>
        </p:txBody>
      </p:sp>
      <p:sp>
        <p:nvSpPr>
          <p:cNvPr id="3" name="TextBox 2"/>
          <p:cNvSpPr txBox="1"/>
          <p:nvPr/>
        </p:nvSpPr>
        <p:spPr>
          <a:xfrm>
            <a:off x="777240" y="1417320"/>
            <a:ext cx="10698480" cy="4526280"/>
          </a:xfrm>
          <a:prstGeom prst="rect">
            <a:avLst/>
          </a:prstGeom>
          <a:noFill/>
        </p:spPr>
        <p:txBody>
          <a:bodyPr wrap="square">
            <a:spAutoFit/>
          </a:bodyPr>
          <a:lstStyle/>
          <a:p>
            <a:pPr>
              <a:spcAft>
                <a:spcPts val="1000"/>
              </a:spcAft>
              <a:defRPr sz="1900"/>
            </a:pPr>
            <a:r>
              <a:t>Logistic Regression: Accuracy .7381 | Precision .5043 | Recall .7834 | F1 .6136 | ROC-AUC .8413</a:t>
            </a:r>
          </a:p>
          <a:p>
            <a:pPr>
              <a:spcAft>
                <a:spcPts val="1000"/>
              </a:spcAft>
              <a:defRPr sz="1900"/>
            </a:pPr>
            <a:r>
              <a:t>Random Forest: Accuracy .7764 | Precision .5646 | Recall .6898 | F1 .6209 | ROC-AUC .8375</a:t>
            </a:r>
          </a:p>
          <a:p>
            <a:pPr>
              <a:spcAft>
                <a:spcPts val="1000"/>
              </a:spcAft>
              <a:defRPr sz="1900"/>
            </a:pPr>
            <a:r>
              <a:t>Decision Tree: Accuracy .7402 | Precision .5068 | Recall .7941 | F1 .6188 | ROC-AUC .8343</a:t>
            </a:r>
          </a:p>
          <a:p>
            <a:pPr>
              <a:spcAft>
                <a:spcPts val="1000"/>
              </a:spcAft>
              <a:defRPr sz="1900"/>
            </a:pPr>
            <a:r>
              <a:t>Selected model: Logistic Regression - highest holdout ROC-AUC</a:t>
            </a:r>
          </a:p>
        </p:txBody>
      </p:sp>
      <p:sp>
        <p:nvSpPr>
          <p:cNvPr id="4" name="TextBox 3"/>
          <p:cNvSpPr txBox="1"/>
          <p:nvPr/>
        </p:nvSpPr>
        <p:spPr>
          <a:xfrm>
            <a:off x="640080" y="6400800"/>
            <a:ext cx="10972800" cy="228600"/>
          </a:xfrm>
          <a:prstGeom prst="rect">
            <a:avLst/>
          </a:prstGeom>
          <a:noFill/>
        </p:spPr>
        <p:txBody>
          <a:bodyPr wrap="none">
            <a:spAutoFit/>
          </a:bodyPr>
          <a:lstStyle/>
          <a:p>
            <a:pPr algn="r">
              <a:defRPr sz="900"/>
            </a:pPr>
            <a:r>
              <a:t>DSC 680 | Project 3 | 7/10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65760"/>
            <a:ext cx="10972800" cy="731520"/>
          </a:xfrm>
          <a:prstGeom prst="rect">
            <a:avLst/>
          </a:prstGeom>
          <a:noFill/>
        </p:spPr>
        <p:txBody>
          <a:bodyPr wrap="none">
            <a:spAutoFit/>
          </a:bodyPr>
          <a:lstStyle/>
          <a:p>
            <a:pPr>
              <a:defRPr sz="2800" b="1"/>
            </a:pPr>
            <a:r>
              <a:t>Validation &amp; Interpretation</a:t>
            </a:r>
          </a:p>
        </p:txBody>
      </p:sp>
      <p:sp>
        <p:nvSpPr>
          <p:cNvPr id="3" name="TextBox 2"/>
          <p:cNvSpPr txBox="1"/>
          <p:nvPr/>
        </p:nvSpPr>
        <p:spPr>
          <a:xfrm>
            <a:off x="777240" y="1417320"/>
            <a:ext cx="10698480" cy="4526280"/>
          </a:xfrm>
          <a:prstGeom prst="rect">
            <a:avLst/>
          </a:prstGeom>
          <a:noFill/>
        </p:spPr>
        <p:txBody>
          <a:bodyPr wrap="square">
            <a:spAutoFit/>
          </a:bodyPr>
          <a:lstStyle/>
          <a:p>
            <a:pPr>
              <a:spcAft>
                <a:spcPts val="1000"/>
              </a:spcAft>
              <a:defRPr sz="1900"/>
            </a:pPr>
            <a:r>
              <a:t>5-fold CV ROC-AUC: Logistic Regression .8459 | Random Forest .8408 | Decision Tree .8253</a:t>
            </a:r>
          </a:p>
          <a:p>
            <a:pPr>
              <a:spcAft>
                <a:spcPts val="1000"/>
              </a:spcAft>
              <a:defRPr sz="1900"/>
            </a:pPr>
            <a:r>
              <a:t>Logistic Regression confusion matrix: TN 747 | FP 288 | FN 81 | TP 293</a:t>
            </a:r>
          </a:p>
          <a:p>
            <a:pPr>
              <a:spcAft>
                <a:spcPts val="1000"/>
              </a:spcAft>
              <a:defRPr sz="1900"/>
            </a:pPr>
            <a:r>
              <a:t>Strong coefficients: tenure -1.1236; two-year contract -0.7813; fiber optic +0.7053; month-to-month +0.6634</a:t>
            </a:r>
          </a:p>
          <a:p>
            <a:pPr>
              <a:spcAft>
                <a:spcPts val="1000"/>
              </a:spcAft>
              <a:defRPr sz="1900"/>
            </a:pPr>
            <a:r>
              <a:t>Random Forest top importance: tenure .1254; TotalCharges .1164; month-to-month .1063</a:t>
            </a:r>
          </a:p>
        </p:txBody>
      </p:sp>
      <p:sp>
        <p:nvSpPr>
          <p:cNvPr id="4" name="TextBox 3"/>
          <p:cNvSpPr txBox="1"/>
          <p:nvPr/>
        </p:nvSpPr>
        <p:spPr>
          <a:xfrm>
            <a:off x="640080" y="6400800"/>
            <a:ext cx="10972800" cy="228600"/>
          </a:xfrm>
          <a:prstGeom prst="rect">
            <a:avLst/>
          </a:prstGeom>
          <a:noFill/>
        </p:spPr>
        <p:txBody>
          <a:bodyPr wrap="none">
            <a:spAutoFit/>
          </a:bodyPr>
          <a:lstStyle/>
          <a:p>
            <a:pPr algn="r">
              <a:defRPr sz="900"/>
            </a:pPr>
            <a:r>
              <a:t>DSC 680 | Project 3 | 8/10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65760"/>
            <a:ext cx="10972800" cy="731520"/>
          </a:xfrm>
          <a:prstGeom prst="rect">
            <a:avLst/>
          </a:prstGeom>
          <a:noFill/>
        </p:spPr>
        <p:txBody>
          <a:bodyPr wrap="none">
            <a:spAutoFit/>
          </a:bodyPr>
          <a:lstStyle/>
          <a:p>
            <a:pPr>
              <a:defRPr sz="2800" b="1"/>
            </a:pPr>
            <a:r>
              <a:t>Recommendations &amp; Ethics</a:t>
            </a:r>
          </a:p>
        </p:txBody>
      </p:sp>
      <p:sp>
        <p:nvSpPr>
          <p:cNvPr id="3" name="TextBox 2"/>
          <p:cNvSpPr txBox="1"/>
          <p:nvPr/>
        </p:nvSpPr>
        <p:spPr>
          <a:xfrm>
            <a:off x="777240" y="1417320"/>
            <a:ext cx="10698480" cy="4526280"/>
          </a:xfrm>
          <a:prstGeom prst="rect">
            <a:avLst/>
          </a:prstGeom>
          <a:noFill/>
        </p:spPr>
        <p:txBody>
          <a:bodyPr wrap="square">
            <a:spAutoFit/>
          </a:bodyPr>
          <a:lstStyle/>
          <a:p>
            <a:pPr>
              <a:spcAft>
                <a:spcPts val="1000"/>
              </a:spcAft>
              <a:defRPr sz="1900"/>
            </a:pPr>
            <a:r>
              <a:t>Prioritize supportive outreach for newer and month-to-month customers.</a:t>
            </a:r>
          </a:p>
          <a:p>
            <a:pPr>
              <a:spcAft>
                <a:spcPts val="1000"/>
              </a:spcAft>
              <a:defRPr sz="1900"/>
            </a:pPr>
            <a:r>
              <a:t>Test service-quality outreach for fiber-optic customers and billing/payment support.</a:t>
            </a:r>
          </a:p>
          <a:p>
            <a:pPr>
              <a:spcAft>
                <a:spcPts val="1000"/>
              </a:spcAft>
              <a:defRPr sz="1900"/>
            </a:pPr>
            <a:r>
              <a:t>Evaluate longer-term contract incentives experimentally.</a:t>
            </a:r>
          </a:p>
          <a:p>
            <a:pPr>
              <a:spcAft>
                <a:spcPts val="1000"/>
              </a:spcAft>
              <a:defRPr sz="1900"/>
            </a:pPr>
            <a:r>
              <a:t>Protect privacy; monitor proxy discrimination, unequal errors, and model drift.</a:t>
            </a:r>
          </a:p>
          <a:p>
            <a:pPr>
              <a:spcAft>
                <a:spcPts val="1000"/>
              </a:spcAft>
              <a:defRPr sz="1900"/>
            </a:pPr>
            <a:r>
              <a:t>Use predictions to support human judgment - not adverse automated decisions.</a:t>
            </a:r>
          </a:p>
        </p:txBody>
      </p:sp>
      <p:sp>
        <p:nvSpPr>
          <p:cNvPr id="4" name="TextBox 3"/>
          <p:cNvSpPr txBox="1"/>
          <p:nvPr/>
        </p:nvSpPr>
        <p:spPr>
          <a:xfrm>
            <a:off x="640080" y="6400800"/>
            <a:ext cx="10972800" cy="228600"/>
          </a:xfrm>
          <a:prstGeom prst="rect">
            <a:avLst/>
          </a:prstGeom>
          <a:noFill/>
        </p:spPr>
        <p:txBody>
          <a:bodyPr wrap="none">
            <a:spAutoFit/>
          </a:bodyPr>
          <a:lstStyle/>
          <a:p>
            <a:pPr algn="r">
              <a:defRPr sz="900"/>
            </a:pPr>
            <a:r>
              <a:t>DSC 680 | Project 3 | 9/10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65760"/>
            <a:ext cx="10972800" cy="731520"/>
          </a:xfrm>
          <a:prstGeom prst="rect">
            <a:avLst/>
          </a:prstGeom>
          <a:noFill/>
        </p:spPr>
        <p:txBody>
          <a:bodyPr wrap="none">
            <a:spAutoFit/>
          </a:bodyPr>
          <a:lstStyle/>
          <a:p>
            <a:pPr>
              <a:defRPr sz="2800" b="1"/>
            </a:pPr>
            <a:r>
              <a:t>Conclusion</a:t>
            </a:r>
          </a:p>
        </p:txBody>
      </p:sp>
      <p:sp>
        <p:nvSpPr>
          <p:cNvPr id="3" name="TextBox 2"/>
          <p:cNvSpPr txBox="1"/>
          <p:nvPr/>
        </p:nvSpPr>
        <p:spPr>
          <a:xfrm>
            <a:off x="777240" y="1417320"/>
            <a:ext cx="10698480" cy="4526280"/>
          </a:xfrm>
          <a:prstGeom prst="rect">
            <a:avLst/>
          </a:prstGeom>
          <a:noFill/>
        </p:spPr>
        <p:txBody>
          <a:bodyPr wrap="square">
            <a:spAutoFit/>
          </a:bodyPr>
          <a:lstStyle/>
          <a:p>
            <a:pPr>
              <a:spcAft>
                <a:spcPts val="1000"/>
              </a:spcAft>
              <a:defRPr sz="1900"/>
            </a:pPr>
            <a:r>
              <a:t>Logistic Regression selected: strongest ROC-AUC in cross-validation and holdout testing.</a:t>
            </a:r>
          </a:p>
          <a:p>
            <a:pPr>
              <a:spcAft>
                <a:spcPts val="1000"/>
              </a:spcAft>
              <a:defRPr sz="1900"/>
            </a:pPr>
            <a:r>
              <a:t>High churn recall (78.34%) supports retention-risk screening.</a:t>
            </a:r>
          </a:p>
          <a:p>
            <a:pPr>
              <a:spcAft>
                <a:spcPts val="1000"/>
              </a:spcAft>
              <a:defRPr sz="1900"/>
            </a:pPr>
            <a:r>
              <a:t>Interpretability makes the model easier to explain to stakeholders.</a:t>
            </a:r>
          </a:p>
          <a:p>
            <a:pPr>
              <a:spcAft>
                <a:spcPts val="1000"/>
              </a:spcAft>
              <a:defRPr sz="1900"/>
            </a:pPr>
            <a:r>
              <a:t>Best use: transparent decision-support signal combined with human review.</a:t>
            </a:r>
          </a:p>
        </p:txBody>
      </p:sp>
      <p:sp>
        <p:nvSpPr>
          <p:cNvPr id="4" name="TextBox 3"/>
          <p:cNvSpPr txBox="1"/>
          <p:nvPr/>
        </p:nvSpPr>
        <p:spPr>
          <a:xfrm>
            <a:off x="640080" y="6400800"/>
            <a:ext cx="10972800" cy="228600"/>
          </a:xfrm>
          <a:prstGeom prst="rect">
            <a:avLst/>
          </a:prstGeom>
          <a:noFill/>
        </p:spPr>
        <p:txBody>
          <a:bodyPr wrap="none">
            <a:spAutoFit/>
          </a:bodyPr>
          <a:lstStyle/>
          <a:p>
            <a:pPr algn="r">
              <a:defRPr sz="900"/>
            </a:pPr>
            <a:r>
              <a:t>DSC 680 | Project 3 | 10/10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